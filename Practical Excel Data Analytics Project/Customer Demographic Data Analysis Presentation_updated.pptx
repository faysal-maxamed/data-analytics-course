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41732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Customer Demographic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Practical Excel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Prepared by: Faysal Mohamed Dahir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Course: Excel for Data Analysis   | 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Raw Data  &gt;  Clean Data  &gt;  Formulas  &gt;  PivotTables  &gt;  Charts  &gt;  KPIs  &gt;  Slicers  &gt;  Dashboards  &gt; 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Why Raw_Data exists, and why Clean_Data is used for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C2C2C"/>
                </a:solidFill>
                <a:latin typeface="Calibri"/>
              </a:rPr>
              <a:t>Dataset: Customer Demographic Data Analysis Data. Purpose: understand customers by city, gender, occupation, income, and registration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623560" cy="44348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09728" cy="4434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2996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F"/>
                </a:solidFill>
                <a:latin typeface="Calibri"/>
              </a:rPr>
              <a:t>Raw_Data — original source (do not modify)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23160"/>
            <a:ext cx="5257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Purpose: keep the original data unchanged.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300 records as received from the course.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7 variables: Customer_ID, Registration_Date, Gender, Age, City, Occupation, Monthly_Income.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Contains duplicates, blanks, N/A, NULL, Unknown, and dash (-).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Not used for totals, PivotTables, charts, or dashboards.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5623560" cy="44348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920240"/>
            <a:ext cx="109728" cy="4434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02996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F"/>
                </a:solidFill>
                <a:latin typeface="Calibri"/>
              </a:rPr>
              <a:t>Clean_Data — working dataset for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23160"/>
            <a:ext cx="5257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Purpose: cleaned data used for all analysis.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293 records after removing 7 duplicate / empty rows.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Same 7 variables plus helpers: Gender_Clean, City_Clean, Occupation_Clean, Income_Level, Reg_Year, Reg_Month.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Missing Age and Income filled with averages.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2C2C"/>
                </a:solidFill>
                <a:latin typeface="Calibri"/>
              </a:rPr>
              <a:t>Used for Analysis, PivotTables, charts, KPIs, and both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Duplicates removed after investigation  |  Missing values handled by data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623560" cy="50749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09728" cy="5074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F"/>
                </a:solidFill>
                <a:latin typeface="Calibri"/>
              </a:rPr>
              <a:t>Duplicates (7.1)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257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dirty="0">
                <a:solidFill>
                  <a:srgbClr val="2C2C2C"/>
                </a:solidFill>
                <a:latin typeface="Calibri"/>
              </a:rPr>
              <a:t>Exact duplicates removed: CUS00026, CUS00040, CUS00075, CUS00095, CUS00143, CUS00194, CUS00224.</a:t>
            </a:r>
          </a:p>
          <a:p>
            <a:pPr>
              <a:spcAft>
                <a:spcPts val="900"/>
              </a:spcAft>
            </a:pPr>
            <a:r>
              <a:rPr sz="1500" b="0" dirty="0">
                <a:solidFill>
                  <a:srgbClr val="2C2C2C"/>
                </a:solidFill>
                <a:latin typeface="Calibri"/>
              </a:rPr>
              <a:t>CUS00049 investigated: one incomplete row and one complete row.</a:t>
            </a:r>
          </a:p>
          <a:p>
            <a:pPr>
              <a:spcAft>
                <a:spcPts val="900"/>
              </a:spcAft>
            </a:pPr>
            <a:r>
              <a:rPr sz="1500" b="0" dirty="0">
                <a:solidFill>
                  <a:srgbClr val="2C2C2C"/>
                </a:solidFill>
                <a:latin typeface="Calibri"/>
              </a:rPr>
              <a:t>Two fully empty rows deleted.</a:t>
            </a:r>
          </a:p>
          <a:p>
            <a:pPr>
              <a:spcAft>
                <a:spcPts val="900"/>
              </a:spcAft>
            </a:pPr>
            <a:r>
              <a:rPr sz="1500" b="0" dirty="0">
                <a:solidFill>
                  <a:srgbClr val="2C2C2C"/>
                </a:solidFill>
                <a:latin typeface="Calibri"/>
              </a:rPr>
              <a:t>Blank </a:t>
            </a:r>
            <a:r>
              <a:rPr sz="1500" b="0" dirty="0" err="1">
                <a:solidFill>
                  <a:srgbClr val="2C2C2C"/>
                </a:solidFill>
                <a:latin typeface="Calibri"/>
              </a:rPr>
              <a:t>Customer_IDs</a:t>
            </a:r>
            <a:r>
              <a:rPr sz="1500" b="0" dirty="0">
                <a:solidFill>
                  <a:srgbClr val="2C2C2C"/>
                </a:solidFill>
                <a:latin typeface="Calibri"/>
              </a:rPr>
              <a:t> left blank — no fake IDs created.</a:t>
            </a:r>
          </a:p>
          <a:p>
            <a:pPr>
              <a:spcAft>
                <a:spcPts val="900"/>
              </a:spcAft>
            </a:pPr>
            <a:r>
              <a:rPr sz="1500" b="0" dirty="0">
                <a:solidFill>
                  <a:srgbClr val="2C2C2C"/>
                </a:solidFill>
                <a:latin typeface="Calibri"/>
              </a:rPr>
              <a:t>Result: 300 rows became 293 clean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623560" cy="50749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109728" cy="5074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3898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375F"/>
                </a:solidFill>
                <a:latin typeface="Calibri"/>
              </a:rPr>
              <a:t>Missing values (7.2) and text cleaning (Part 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83080"/>
            <a:ext cx="525780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dirty="0">
                <a:solidFill>
                  <a:srgbClr val="2C2C2C"/>
                </a:solidFill>
                <a:latin typeface="Calibri"/>
              </a:rPr>
              <a:t>Found as blank, N/A, Unknown, NULL, and dash.</a:t>
            </a:r>
          </a:p>
          <a:p>
            <a:pPr>
              <a:spcAft>
                <a:spcPts val="900"/>
              </a:spcAft>
            </a:pPr>
            <a:r>
              <a:rPr sz="1400" b="0" dirty="0" err="1">
                <a:solidFill>
                  <a:srgbClr val="2C2C2C"/>
                </a:solidFill>
                <a:latin typeface="Calibri"/>
              </a:rPr>
              <a:t>Registration_Date</a:t>
            </a:r>
            <a:r>
              <a:rPr sz="1400" b="0" dirty="0">
                <a:solidFill>
                  <a:srgbClr val="2C2C2C"/>
                </a:solidFill>
                <a:latin typeface="Calibri"/>
              </a:rPr>
              <a:t> labelled Missing — no fake dates.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C2C2C"/>
                </a:solidFill>
                <a:latin typeface="Calibri"/>
              </a:rPr>
              <a:t>Gender, City, Occupation labelled </a:t>
            </a:r>
            <a:r>
              <a:rPr sz="1400" b="0" dirty="0" smtClean="0">
                <a:solidFill>
                  <a:srgbClr val="2C2C2C"/>
                </a:solidFill>
                <a:latin typeface="Calibri"/>
              </a:rPr>
              <a:t>Missing— </a:t>
            </a:r>
            <a:r>
              <a:rPr sz="1400" b="0" dirty="0">
                <a:solidFill>
                  <a:srgbClr val="2C2C2C"/>
                </a:solidFill>
                <a:latin typeface="Calibri"/>
              </a:rPr>
              <a:t>not filled with mode.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C2C2C"/>
                </a:solidFill>
                <a:latin typeface="Calibri"/>
              </a:rPr>
              <a:t>Age blanks replaced with average age (~44).</a:t>
            </a:r>
          </a:p>
          <a:p>
            <a:pPr>
              <a:spcAft>
                <a:spcPts val="900"/>
              </a:spcAft>
            </a:pPr>
            <a:r>
              <a:rPr sz="1400" b="0" dirty="0" err="1">
                <a:solidFill>
                  <a:srgbClr val="2C2C2C"/>
                </a:solidFill>
                <a:latin typeface="Calibri"/>
              </a:rPr>
              <a:t>Monthly_Income</a:t>
            </a:r>
            <a:r>
              <a:rPr sz="1400" b="0" dirty="0">
                <a:solidFill>
                  <a:srgbClr val="2C2C2C"/>
                </a:solidFill>
                <a:latin typeface="Calibri"/>
              </a:rPr>
              <a:t> blanks replaced with average $923.87.</a:t>
            </a:r>
          </a:p>
          <a:p>
            <a:pPr>
              <a:spcAft>
                <a:spcPts val="900"/>
              </a:spcAft>
            </a:pPr>
            <a:r>
              <a:rPr sz="1400" b="0" dirty="0">
                <a:solidFill>
                  <a:srgbClr val="2C2C2C"/>
                </a:solidFill>
                <a:latin typeface="Calibri"/>
              </a:rPr>
              <a:t>TRIM, PROPER, SUBSTITUTE (CS became Civil Servant).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Missing values by column (Raw_Data)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Use this table when you present: this column had this many missing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1556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1A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Missing (Raw_Data)</a:t>
                      </a:r>
                    </a:p>
                  </a:txBody>
                  <a:tcPr>
                    <a:solidFill>
                      <a:srgbClr val="1A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was missing</a:t>
                      </a:r>
                    </a:p>
                  </a:txBody>
                  <a:tcPr>
                    <a:solidFill>
                      <a:srgbClr val="1A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was handled</a:t>
                      </a:r>
                    </a:p>
                  </a:txBody>
                  <a:tcPr>
                    <a:solidFill>
                      <a:srgbClr val="1A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Blank cells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Left blank — no fake IDs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Registration_Date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19 blank + 1 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Labelled Missing — no fake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Gender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Blank cells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Replaced with Missing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Blank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Replaced with average (~44)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16 blank + 1 dash (-)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Replaced with Missing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Occupation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Blank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Replaced with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375F"/>
                          </a:solidFill>
                          <a:latin typeface="Calibri"/>
                        </a:rPr>
                        <a:t>Monthly_Income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A375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18 blank + 1 Unknown + 1 dash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2C2C"/>
                          </a:solidFill>
                          <a:latin typeface="Calibri"/>
                        </a:rPr>
                        <a:t>Replaced with average ($923.87)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035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Total original records: 300. After removing 7 duplicate/empty rows, Clean_Data has 293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Formulas (Analysis sheet)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Basic calculations  |  Conditional functions  |  Logical functions  |  Date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88920" cy="50292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88920" cy="50292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3898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SUM, AVERAGE, COUNTA, MIN, MAX
Total income: $270,693
Average income: $923.87
Average age: 44.2
Customers: 293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788920" cy="50292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788920" cy="50292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3898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COUNTIF and AVERAGEIF
Mogadishu customers: 110
Female average income
Teacher average income: $704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2788920" cy="50292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2788920" cy="50292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898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Logical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Nested IF and IF + AND
Income_Level:
High  &gt;= $1,500
Medium  $800 to $1,499
Low  &lt; $800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325880"/>
            <a:ext cx="2788920" cy="50292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60" y="1325880"/>
            <a:ext cx="2788920" cy="50292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312" y="13898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1168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TODAY, NOW, DAY, MONTH,
YEAR, DATE, NETWORKDAYS
Reg_Year and Reg_Month added on Clean_Data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PivotTables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All four areas used: Rows, Columns, Values,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dirty="0">
                <a:solidFill>
                  <a:srgbClr val="2C2C2C"/>
                </a:solidFill>
                <a:latin typeface="Calibri"/>
              </a:rPr>
              <a:t>Source: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Clean_Data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 only.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Raw_Data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 was never used as a Pivot source.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2C2C2C"/>
                </a:solidFill>
                <a:latin typeface="Calibri"/>
              </a:rPr>
              <a:t>Rows: City, Occupation,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Income_Level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, and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Reg_Month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2C2C2C"/>
                </a:solidFill>
                <a:latin typeface="Calibri"/>
              </a:rPr>
              <a:t>Columns: Gender in the City x Gender pivot.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2C2C2C"/>
                </a:solidFill>
                <a:latin typeface="Calibri"/>
              </a:rPr>
              <a:t>Values: Count of customers, Sum of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Monthly_Income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, Average of </a:t>
            </a:r>
            <a:r>
              <a:rPr sz="1800" b="0" dirty="0" err="1">
                <a:solidFill>
                  <a:srgbClr val="2C2C2C"/>
                </a:solidFill>
                <a:latin typeface="Calibri"/>
              </a:rPr>
              <a:t>Monthly_Income</a:t>
            </a:r>
            <a:r>
              <a:rPr sz="1800" b="0" dirty="0">
                <a:solidFill>
                  <a:srgbClr val="2C2C2C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2C2C2C"/>
                </a:solidFill>
                <a:latin typeface="Calibri"/>
              </a:rPr>
              <a:t>Filters: City filter on the income-level PivotTable.</a:t>
            </a:r>
          </a:p>
          <a:p>
            <a:pPr>
              <a:spcAft>
                <a:spcPts val="900"/>
              </a:spcAft>
            </a:pPr>
            <a:endParaRPr sz="1800" b="0" dirty="0">
              <a:solidFill>
                <a:srgbClr val="2C2C2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Charts (more than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Created from PivotTables, not from hundreds of raw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Total Income by City (column) — Mogadishu $111,504.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Customer Registrations by Month (column) — peak in May.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Income by Occupation (column) — Business Owners highest total.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Gender x City (clustered column).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Sum of Income by Gender (pie).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Yearly Total Income (pie) — 2025 vs 2026.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Income Level Distribution (pie) — High, Medium, Low.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Customers by Occupation (column).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Dashboard 1 — Customer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KPIs: 293 customers  |  $924 average income  |  110 Mogadishu  |  143 Female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Dashboard 2 — Income and Occupation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KPIs: Age 44.23  |  Total income $270,693  |  22 High income  |  Teacher avg $704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Five insights from Clean_Data, PivotTables, and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1. Mogadishu has the largest customer base (110) and the highest total income ($111,504), about 41% of all income.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2. Average monthly income is $923.87 and average customer age is 44 years.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3. Female customers (143) slightly outnumber Male customers (133), with similar average incomes.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4. Most customers are Medium or Low income. Only 22 customers are High income ($1,500 or more).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2C2C2C"/>
                </a:solidFill>
                <a:latin typeface="Calibri"/>
              </a:rPr>
              <a:t>5. Business Owners and Healthcare workers have the highest average incomes. Registrations peaked in May (33).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8EE"/>
                </a:solidFill>
                <a:latin typeface="Calibri"/>
              </a:rPr>
              <a:t>Three actions based on the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03320" cy="48920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03320" cy="64008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 Focus on Mogadishu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Put marketing and customer retention on Mogadishu. It is the largest city in the dataset and generates the highest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703320" cy="48920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703320" cy="64008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 Target Female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Build campaigns for Female customers in major cities. They are nearly half of the customer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703320" cy="48920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703320" cy="640080"/>
          </a:xfrm>
          <a:prstGeom prst="rect">
            <a:avLst/>
          </a:prstGeom>
          <a:solidFill>
            <a:srgbClr val="1A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 Design by income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C2C"/>
                </a:solidFill>
                <a:latin typeface="Calibri"/>
              </a:rPr>
              <a:t>Create offers for Medium and Low income customers, and grow the High income group (only 22 customers today).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955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2026-08-24T11:05:23Z</dcterms:modified>
  <cp:category/>
</cp:coreProperties>
</file>